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Nunito"/>
      <p:regular r:id="rId14"/>
      <p:bold r:id="rId15"/>
      <p:italic r:id="rId16"/>
      <p:boldItalic r:id="rId17"/>
    </p:embeddedFont>
    <p:embeddedFont>
      <p:font typeface="Montserrat"/>
      <p:regular r:id="rId18"/>
      <p:bold r:id="rId19"/>
      <p:italic r:id="rId20"/>
      <p:boldItalic r:id="rId21"/>
    </p:embeddedFont>
    <p:embeddedFont>
      <p:font typeface="Nunito ExtraBold"/>
      <p:bold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11" Type="http://schemas.openxmlformats.org/officeDocument/2006/relationships/slide" Target="slides/slide6.xml"/><Relationship Id="rId22" Type="http://schemas.openxmlformats.org/officeDocument/2006/relationships/font" Target="fonts/NunitoExtraBold-bold.fntdata"/><Relationship Id="rId10" Type="http://schemas.openxmlformats.org/officeDocument/2006/relationships/slide" Target="slides/slide5.xml"/><Relationship Id="rId21" Type="http://schemas.openxmlformats.org/officeDocument/2006/relationships/font" Target="fonts/Montserrat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NunitoExtra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bold.fntdata"/><Relationship Id="rId14" Type="http://schemas.openxmlformats.org/officeDocument/2006/relationships/font" Target="fonts/Nunito-regular.fntdata"/><Relationship Id="rId17" Type="http://schemas.openxmlformats.org/officeDocument/2006/relationships/font" Target="fonts/Nunito-boldItalic.fntdata"/><Relationship Id="rId16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bold.fntdata"/><Relationship Id="rId6" Type="http://schemas.openxmlformats.org/officeDocument/2006/relationships/slide" Target="slides/slide1.xml"/><Relationship Id="rId18" Type="http://schemas.openxmlformats.org/officeDocument/2006/relationships/font" Target="fonts/Montserra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d342d8f8f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8d342d8f8f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d342d8f8f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8d342d8f8f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d342d8f8f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8d342d8f8f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d342d8f8f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8d342d8f8f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8d483b6cf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8d483b6cf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8d483b6cf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8d483b6cf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8d4df37ec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8d4df37ec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461625" y="2169450"/>
            <a:ext cx="6520200" cy="804600"/>
          </a:xfrm>
          <a:prstGeom prst="rect">
            <a:avLst/>
          </a:prstGeom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70">
                <a:solidFill>
                  <a:schemeClr val="accent5"/>
                </a:solidFill>
              </a:rPr>
              <a:t>Підсумковий проект блоку SQL</a:t>
            </a:r>
            <a:endParaRPr sz="3070">
              <a:solidFill>
                <a:schemeClr val="accent5"/>
              </a:solidFill>
            </a:endParaRPr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788775" y="808050"/>
            <a:ext cx="5794500" cy="8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b="1" lang="en" sz="135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Виконала:</a:t>
            </a:r>
            <a:r>
              <a:rPr lang="en" sz="135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 Верещагіна-Янко Тетяна </a:t>
            </a:r>
            <a:endParaRPr sz="1350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35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студентка курсу Data Analyst</a:t>
            </a:r>
            <a:endParaRPr sz="1350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35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група DA30</a:t>
            </a:r>
            <a:endParaRPr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idx="1" type="body"/>
          </p:nvPr>
        </p:nvSpPr>
        <p:spPr>
          <a:xfrm>
            <a:off x="880050" y="2642075"/>
            <a:ext cx="7383900" cy="17403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n" sz="1950">
                <a:solidFill>
                  <a:schemeClr val="lt1"/>
                </a:solidFill>
                <a:highlight>
                  <a:schemeClr val="dk1"/>
                </a:highlight>
                <a:latin typeface="Nunito ExtraBold"/>
                <a:ea typeface="Nunito ExtraBold"/>
                <a:cs typeface="Nunito ExtraBold"/>
                <a:sym typeface="Nunito ExtraBold"/>
              </a:rPr>
              <a:t>Опис даних та платформи:</a:t>
            </a:r>
            <a:endParaRPr b="1" sz="1410">
              <a:solidFill>
                <a:srgbClr val="2F2F37"/>
              </a:solidFill>
              <a:highlight>
                <a:srgbClr val="FFFFFF"/>
              </a:highlight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1410">
                <a:solidFill>
                  <a:schemeClr val="accent1"/>
                </a:solidFill>
                <a:highlight>
                  <a:srgbClr val="FFFFFF"/>
                </a:highlight>
              </a:rPr>
              <a:t>Завдання 1.</a:t>
            </a:r>
            <a:r>
              <a:rPr b="1" lang="en" sz="1410">
                <a:solidFill>
                  <a:srgbClr val="2F2F37"/>
                </a:solidFill>
                <a:highlight>
                  <a:srgbClr val="FFFFFF"/>
                </a:highlight>
              </a:rPr>
              <a:t> </a:t>
            </a:r>
            <a:r>
              <a:rPr lang="en" sz="1410">
                <a:solidFill>
                  <a:srgbClr val="2F2F37"/>
                </a:solidFill>
                <a:highlight>
                  <a:srgbClr val="FFFFFF"/>
                </a:highlight>
              </a:rPr>
              <a:t>Датасети з даними про онлайн-рекламу в </a:t>
            </a:r>
            <a:r>
              <a:rPr lang="en" sz="1410">
                <a:solidFill>
                  <a:srgbClr val="2F2F37"/>
                </a:solidFill>
              </a:rPr>
              <a:t>Google та Facebook, </a:t>
            </a:r>
            <a:r>
              <a:rPr lang="en" sz="1410">
                <a:solidFill>
                  <a:srgbClr val="2F2F37"/>
                </a:solidFill>
                <a:highlight>
                  <a:srgbClr val="FFFFFF"/>
                </a:highlight>
              </a:rPr>
              <a:t>база даних `ads_analysis_goit_course`,</a:t>
            </a:r>
            <a:r>
              <a:rPr lang="en" sz="1410">
                <a:solidFill>
                  <a:srgbClr val="2F2F37"/>
                </a:solidFill>
              </a:rPr>
              <a:t> </a:t>
            </a:r>
            <a:r>
              <a:rPr lang="en" sz="1410">
                <a:solidFill>
                  <a:srgbClr val="2F2F37"/>
                </a:solidFill>
                <a:highlight>
                  <a:srgbClr val="FFFFFF"/>
                </a:highlight>
              </a:rPr>
              <a:t>СУБД PostgreSQL,  інструмент DBeaver для написання SQL-запитів</a:t>
            </a:r>
            <a:r>
              <a:rPr lang="en" sz="1410">
                <a:solidFill>
                  <a:srgbClr val="2F2F37"/>
                </a:solidFill>
              </a:rPr>
              <a:t>.</a:t>
            </a:r>
            <a:endParaRPr sz="1410">
              <a:solidFill>
                <a:srgbClr val="2F2F37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410">
              <a:solidFill>
                <a:srgbClr val="2F2F37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1410">
                <a:solidFill>
                  <a:schemeClr val="accent1"/>
                </a:solidFill>
              </a:rPr>
              <a:t>Завдання 2.</a:t>
            </a:r>
            <a:r>
              <a:rPr b="1" lang="en" sz="1410">
                <a:solidFill>
                  <a:srgbClr val="2F2F37"/>
                </a:solidFill>
              </a:rPr>
              <a:t> </a:t>
            </a:r>
            <a:r>
              <a:rPr lang="en" sz="1410">
                <a:solidFill>
                  <a:srgbClr val="2F2F37"/>
                </a:solidFill>
              </a:rPr>
              <a:t>Публічний датасет </a:t>
            </a:r>
            <a:r>
              <a:rPr b="1" lang="en" sz="1410">
                <a:solidFill>
                  <a:srgbClr val="2F2F37"/>
                </a:solidFill>
                <a:highlight>
                  <a:srgbClr val="FFFFFF"/>
                </a:highlight>
              </a:rPr>
              <a:t>Google Analytics 4 </a:t>
            </a:r>
            <a:r>
              <a:rPr lang="en" sz="1410">
                <a:solidFill>
                  <a:srgbClr val="2F2F37"/>
                </a:solidFill>
                <a:highlight>
                  <a:srgbClr val="FFFFFF"/>
                </a:highlight>
              </a:rPr>
              <a:t>інтернет-магазину Google на</a:t>
            </a:r>
            <a:r>
              <a:rPr lang="en" sz="1410">
                <a:solidFill>
                  <a:srgbClr val="2F2F37"/>
                </a:solidFill>
              </a:rPr>
              <a:t> платформі BigQuery </a:t>
            </a:r>
            <a:r>
              <a:rPr lang="en" sz="1410">
                <a:solidFill>
                  <a:srgbClr val="001D35"/>
                </a:solidFill>
              </a:rPr>
              <a:t>за допомогою SQL-запитів</a:t>
            </a:r>
            <a:r>
              <a:rPr b="1" lang="en" sz="1410">
                <a:solidFill>
                  <a:srgbClr val="2F2F37"/>
                </a:solidFill>
                <a:highlight>
                  <a:srgbClr val="FFFFFF"/>
                </a:highlight>
              </a:rPr>
              <a:t>.</a:t>
            </a:r>
            <a:endParaRPr sz="1410">
              <a:solidFill>
                <a:srgbClr val="2F2F3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202"/>
          </a:p>
        </p:txBody>
      </p:sp>
      <p:sp>
        <p:nvSpPr>
          <p:cNvPr id="135" name="Google Shape;135;p14"/>
          <p:cNvSpPr txBox="1"/>
          <p:nvPr>
            <p:ph idx="4294967295" type="ctrTitle"/>
          </p:nvPr>
        </p:nvSpPr>
        <p:spPr>
          <a:xfrm>
            <a:off x="846900" y="675925"/>
            <a:ext cx="7421700" cy="17403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88">
                <a:latin typeface="Nunito ExtraBold"/>
                <a:ea typeface="Nunito ExtraBold"/>
                <a:cs typeface="Nunito ExtraBold"/>
                <a:sym typeface="Nunito ExtraBold"/>
              </a:rPr>
              <a:t>Мета:</a:t>
            </a:r>
            <a:endParaRPr sz="2188">
              <a:latin typeface="Nunito ExtraBold"/>
              <a:ea typeface="Nunito ExtraBold"/>
              <a:cs typeface="Nunito ExtraBold"/>
              <a:sym typeface="Nunito ExtraBold"/>
            </a:endParaRPr>
          </a:p>
          <a:p>
            <a:pPr indent="-321944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2F37"/>
              </a:buClr>
              <a:buSzPct val="100000"/>
              <a:buFont typeface="Calibri"/>
              <a:buChar char="●"/>
            </a:pPr>
            <a:r>
              <a:rPr lang="en" sz="1633">
                <a:solidFill>
                  <a:srgbClr val="2F2F37"/>
                </a:solidFill>
                <a:latin typeface="Calibri"/>
                <a:ea typeface="Calibri"/>
                <a:cs typeface="Calibri"/>
                <a:sym typeface="Calibri"/>
              </a:rPr>
              <a:t>Закріпити на практиці знання у написанні SQL-запитів у DBeaver та BigQuery;</a:t>
            </a:r>
            <a:endParaRPr sz="1633">
              <a:solidFill>
                <a:srgbClr val="2F2F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1944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2F37"/>
              </a:buClr>
              <a:buSzPct val="100000"/>
              <a:buFont typeface="Calibri"/>
              <a:buChar char="●"/>
            </a:pPr>
            <a:r>
              <a:rPr lang="en" sz="1633">
                <a:solidFill>
                  <a:srgbClr val="2F2F37"/>
                </a:solidFill>
                <a:latin typeface="Calibri"/>
                <a:ea typeface="Calibri"/>
                <a:cs typeface="Calibri"/>
                <a:sym typeface="Calibri"/>
              </a:rPr>
              <a:t>Дослідити деталі онлайн-кампаній  Google та Facebook;</a:t>
            </a:r>
            <a:endParaRPr sz="1633">
              <a:solidFill>
                <a:srgbClr val="2F2F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1944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2F37"/>
              </a:buClr>
              <a:buSzPct val="100000"/>
              <a:buFont typeface="Calibri"/>
              <a:buChar char="●"/>
            </a:pPr>
            <a:r>
              <a:rPr lang="en" sz="1633">
                <a:solidFill>
                  <a:srgbClr val="2F2F37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Розрахувати метрики та дослідити їх зміни;</a:t>
            </a:r>
            <a:endParaRPr sz="1633">
              <a:solidFill>
                <a:srgbClr val="2F2F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1944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2F37"/>
              </a:buClr>
              <a:buSzPct val="100000"/>
              <a:buFont typeface="Calibri"/>
              <a:buChar char="●"/>
            </a:pPr>
            <a:r>
              <a:rPr lang="en" sz="1633">
                <a:solidFill>
                  <a:srgbClr val="2F2F37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Навчитися працювати з даними датасету Google Analytics та підготувати їх до  подальшої інтерактивної візуалізації в BI-системах.</a:t>
            </a:r>
            <a:endParaRPr sz="1633">
              <a:solidFill>
                <a:srgbClr val="2F2F37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819150" y="538150"/>
            <a:ext cx="7505700" cy="4518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1920">
                <a:latin typeface="Nunito ExtraBold"/>
                <a:ea typeface="Nunito ExtraBold"/>
                <a:cs typeface="Nunito ExtraBold"/>
                <a:sym typeface="Nunito ExtraBold"/>
              </a:rPr>
              <a:t>Приклади типів завдань:</a:t>
            </a:r>
            <a:endParaRPr sz="1920"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sp>
        <p:nvSpPr>
          <p:cNvPr id="141" name="Google Shape;141;p15"/>
          <p:cNvSpPr txBox="1"/>
          <p:nvPr>
            <p:ph idx="1" type="body"/>
          </p:nvPr>
        </p:nvSpPr>
        <p:spPr>
          <a:xfrm>
            <a:off x="851575" y="1126725"/>
            <a:ext cx="3686100" cy="33120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1114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1"/>
                </a:solidFill>
              </a:rPr>
              <a:t>Завдання 1.  Дослідження деталей онлайн-кампаній </a:t>
            </a:r>
            <a:r>
              <a:rPr b="1" lang="en" sz="1500">
                <a:solidFill>
                  <a:schemeClr val="accent1"/>
                </a:solidFill>
              </a:rPr>
              <a:t>Google та Facebook:</a:t>
            </a:r>
            <a:endParaRPr b="1" sz="1500"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  <a:p>
            <a:pPr indent="-196850" lvl="0" marL="2286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для кожної дати вивести агреговані показники (</a:t>
            </a:r>
            <a:r>
              <a:rPr b="1" lang="en"/>
              <a:t>середнє, максимум та мінімум</a:t>
            </a:r>
            <a:r>
              <a:rPr lang="en"/>
              <a:t>);</a:t>
            </a:r>
            <a:endParaRPr/>
          </a:p>
          <a:p>
            <a:pPr indent="-196850" lvl="0" marL="2286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знайти 5 днів з найбільшим загальним </a:t>
            </a:r>
            <a:r>
              <a:rPr b="1" lang="en"/>
              <a:t>ROMI</a:t>
            </a:r>
            <a:r>
              <a:rPr lang="en"/>
              <a:t>; </a:t>
            </a:r>
            <a:endParaRPr/>
          </a:p>
          <a:p>
            <a:pPr indent="-196850" lvl="0" marL="2286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відобразити кампанію з найвищим рівнем загального тижневого</a:t>
            </a:r>
            <a:r>
              <a:rPr b="1" lang="en"/>
              <a:t> value</a:t>
            </a:r>
            <a:r>
              <a:rPr lang="en"/>
              <a:t>; </a:t>
            </a:r>
            <a:endParaRPr/>
          </a:p>
          <a:p>
            <a:pPr indent="-196850" lvl="0" marL="2286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знайти кампанію, що мала найбільший приріст </a:t>
            </a:r>
            <a:r>
              <a:rPr b="1" lang="en"/>
              <a:t>охоплення</a:t>
            </a:r>
            <a:r>
              <a:rPr lang="en"/>
              <a:t> (reach) місяць-до-місяця;</a:t>
            </a:r>
            <a:endParaRPr/>
          </a:p>
          <a:p>
            <a:pPr indent="-196850" lvl="0" marL="2286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знайти</a:t>
            </a:r>
            <a:r>
              <a:rPr lang="en"/>
              <a:t> назву та </a:t>
            </a:r>
            <a:r>
              <a:rPr b="1" lang="en"/>
              <a:t>тривалість</a:t>
            </a:r>
            <a:r>
              <a:rPr lang="en"/>
              <a:t> найдовшого безперервного (щоденного) показу adset_name. </a:t>
            </a:r>
            <a:endParaRPr b="1" sz="1550">
              <a:solidFill>
                <a:srgbClr val="1C458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2" name="Google Shape;142;p15"/>
          <p:cNvSpPr txBox="1"/>
          <p:nvPr>
            <p:ph idx="2" type="body"/>
          </p:nvPr>
        </p:nvSpPr>
        <p:spPr>
          <a:xfrm>
            <a:off x="4770550" y="1126725"/>
            <a:ext cx="3554100" cy="33120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1"/>
                </a:solidFill>
              </a:rPr>
              <a:t>Завдання 2-5.  Дослідження датасету </a:t>
            </a:r>
            <a:r>
              <a:rPr b="1" lang="en" sz="1522">
                <a:solidFill>
                  <a:schemeClr val="accent1"/>
                </a:solidFill>
                <a:highlight>
                  <a:schemeClr val="dk1"/>
                </a:highlight>
              </a:rPr>
              <a:t>Google Analytics 4:</a:t>
            </a:r>
            <a:endParaRPr b="1" sz="1522">
              <a:solidFill>
                <a:schemeClr val="accent1"/>
              </a:solidFill>
              <a:highlight>
                <a:schemeClr val="dk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22">
              <a:solidFill>
                <a:srgbClr val="2F2F37"/>
              </a:solidFill>
              <a:highlight>
                <a:schemeClr val="dk1"/>
              </a:highlight>
            </a:endParaRPr>
          </a:p>
          <a:p>
            <a:pPr indent="-1968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підготовка даних для побудови звітів у BI системах;</a:t>
            </a:r>
            <a:endParaRPr/>
          </a:p>
          <a:p>
            <a:pPr indent="-1968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 розрахунок </a:t>
            </a:r>
            <a:r>
              <a:rPr b="1" lang="en"/>
              <a:t>конверсій</a:t>
            </a:r>
            <a:r>
              <a:rPr lang="en"/>
              <a:t> в розрізі дат та каналів;</a:t>
            </a:r>
            <a:endParaRPr/>
          </a:p>
          <a:p>
            <a:pPr indent="-1968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 порівняння </a:t>
            </a:r>
            <a:r>
              <a:rPr b="1" lang="en"/>
              <a:t>конверсії</a:t>
            </a:r>
            <a:r>
              <a:rPr lang="en"/>
              <a:t> між різними посадковими сторінками;</a:t>
            </a:r>
            <a:endParaRPr/>
          </a:p>
          <a:p>
            <a:pPr indent="-1968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 перевірка </a:t>
            </a:r>
            <a:r>
              <a:rPr b="1" lang="en"/>
              <a:t>кореляції</a:t>
            </a:r>
            <a:r>
              <a:rPr lang="en"/>
              <a:t> між залученістю користувачів та здійсненням покупок.</a:t>
            </a:r>
            <a:endParaRPr/>
          </a:p>
          <a:p>
            <a:pPr indent="34290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/>
          <p:cNvSpPr txBox="1"/>
          <p:nvPr>
            <p:ph type="title"/>
          </p:nvPr>
        </p:nvSpPr>
        <p:spPr>
          <a:xfrm>
            <a:off x="830700" y="394925"/>
            <a:ext cx="7706400" cy="3666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988"/>
              <a:t>Результати завдання 1</a:t>
            </a:r>
            <a:endParaRPr b="1" sz="1988"/>
          </a:p>
        </p:txBody>
      </p:sp>
      <p:sp>
        <p:nvSpPr>
          <p:cNvPr id="148" name="Google Shape;148;p16"/>
          <p:cNvSpPr txBox="1"/>
          <p:nvPr>
            <p:ph idx="1" type="body"/>
          </p:nvPr>
        </p:nvSpPr>
        <p:spPr>
          <a:xfrm>
            <a:off x="830700" y="862400"/>
            <a:ext cx="4203900" cy="35766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184561" lvl="0" marL="171450" rtl="0" algn="just">
              <a:spcBef>
                <a:spcPts val="0"/>
              </a:spcBef>
              <a:spcAft>
                <a:spcPts val="0"/>
              </a:spcAft>
              <a:buClr>
                <a:srgbClr val="2F2F37"/>
              </a:buClr>
              <a:buSzPct val="100000"/>
              <a:buAutoNum type="arabicPeriod"/>
            </a:pPr>
            <a:r>
              <a:rPr lang="en" sz="4425">
                <a:solidFill>
                  <a:srgbClr val="2F2F37"/>
                </a:solidFill>
              </a:rPr>
              <a:t>Для щоденних витрат були </a:t>
            </a:r>
            <a:r>
              <a:rPr lang="en" sz="4425">
                <a:solidFill>
                  <a:srgbClr val="2F2F37"/>
                </a:solidFill>
              </a:rPr>
              <a:t>розраховані</a:t>
            </a:r>
            <a:r>
              <a:rPr lang="en" sz="4425">
                <a:solidFill>
                  <a:srgbClr val="2F2F37"/>
                </a:solidFill>
              </a:rPr>
              <a:t> показники максимум, мінімум та середнє. В подальшому цю таблицю можна використовувати для побудови візуалізацій та більш детального аналізу та порівняння щоденних витрат для різних платформ.</a:t>
            </a:r>
            <a:endParaRPr sz="4425">
              <a:solidFill>
                <a:srgbClr val="2F2F37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25">
              <a:solidFill>
                <a:srgbClr val="2F2F37"/>
              </a:solidFill>
            </a:endParaRPr>
          </a:p>
          <a:p>
            <a:pPr indent="-184561" lvl="0" marL="17145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AutoNum type="arabicPeriod"/>
            </a:pPr>
            <a:r>
              <a:rPr lang="en" sz="4425">
                <a:solidFill>
                  <a:srgbClr val="000000"/>
                </a:solidFill>
              </a:rPr>
              <a:t>Розрахувавши </a:t>
            </a:r>
            <a:r>
              <a:rPr b="1" lang="en" sz="4425">
                <a:solidFill>
                  <a:srgbClr val="000000"/>
                </a:solidFill>
              </a:rPr>
              <a:t>ROMI </a:t>
            </a:r>
            <a:r>
              <a:rPr lang="en" sz="4425">
                <a:solidFill>
                  <a:srgbClr val="000000"/>
                </a:solidFill>
              </a:rPr>
              <a:t>були визначені 5 найефективніші рекламні дні у 2022 році, у які маркетингові інвестиції були найбільш прибутковими:</a:t>
            </a:r>
            <a:endParaRPr sz="4425">
              <a:solidFill>
                <a:srgbClr val="000000"/>
              </a:solidFill>
            </a:endParaRPr>
          </a:p>
          <a:p>
            <a:pPr indent="-114300" lvl="0" marL="17145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4425">
                <a:solidFill>
                  <a:srgbClr val="000000"/>
                </a:solidFill>
              </a:rPr>
              <a:t>               11 січня - 2,49;        07 січня - 2,46; </a:t>
            </a:r>
            <a:endParaRPr sz="4425">
              <a:solidFill>
                <a:srgbClr val="000000"/>
              </a:solidFill>
            </a:endParaRPr>
          </a:p>
          <a:p>
            <a:pPr indent="-114300" lvl="0" marL="17145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4425">
                <a:solidFill>
                  <a:srgbClr val="000000"/>
                </a:solidFill>
              </a:rPr>
              <a:t>               13 лютого -  2.42;      16 січня - 2,4;         23 лютого - 2,37.</a:t>
            </a:r>
            <a:endParaRPr sz="4425">
              <a:solidFill>
                <a:srgbClr val="000000"/>
              </a:solidFill>
            </a:endParaRPr>
          </a:p>
          <a:p>
            <a:pPr indent="-114300" lvl="0" marL="17145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25">
              <a:solidFill>
                <a:srgbClr val="000000"/>
              </a:solidFill>
            </a:endParaRPr>
          </a:p>
          <a:p>
            <a:pPr indent="-184561" lvl="0" marL="17145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AutoNum type="arabicPeriod"/>
            </a:pPr>
            <a:r>
              <a:rPr lang="en" sz="4425">
                <a:solidFill>
                  <a:srgbClr val="000000"/>
                </a:solidFill>
              </a:rPr>
              <a:t>Рекорд з тижневими доходами у 2294120 ум.од. належить кампанії  </a:t>
            </a:r>
            <a:r>
              <a:rPr b="1" lang="en" sz="4425">
                <a:solidFill>
                  <a:srgbClr val="000000"/>
                </a:solidFill>
              </a:rPr>
              <a:t>Expansion</a:t>
            </a:r>
            <a:r>
              <a:rPr lang="en" sz="4425">
                <a:solidFill>
                  <a:srgbClr val="000000"/>
                </a:solidFill>
              </a:rPr>
              <a:t>, що почалася 11 квітня 2022 року.</a:t>
            </a:r>
            <a:endParaRPr sz="4425">
              <a:solidFill>
                <a:srgbClr val="000000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25">
              <a:solidFill>
                <a:srgbClr val="000000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25">
              <a:solidFill>
                <a:srgbClr val="000000"/>
              </a:solidFill>
            </a:endParaRPr>
          </a:p>
          <a:p>
            <a:pPr indent="-228600" lvl="0" marL="17145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4425">
                <a:solidFill>
                  <a:srgbClr val="000000"/>
                </a:solidFill>
              </a:rPr>
              <a:t>4.  Кампанія </a:t>
            </a:r>
            <a:r>
              <a:rPr b="1" lang="en" sz="4425">
                <a:solidFill>
                  <a:srgbClr val="000000"/>
                </a:solidFill>
              </a:rPr>
              <a:t>Hobbies</a:t>
            </a:r>
            <a:r>
              <a:rPr lang="en" sz="4425">
                <a:solidFill>
                  <a:srgbClr val="000000"/>
                </a:solidFill>
              </a:rPr>
              <a:t> мала найбільший приріст охоплення </a:t>
            </a:r>
            <a:r>
              <a:rPr b="1" lang="en" sz="4425">
                <a:solidFill>
                  <a:srgbClr val="000000"/>
                </a:solidFill>
              </a:rPr>
              <a:t>reach </a:t>
            </a:r>
            <a:r>
              <a:rPr lang="en" sz="4425">
                <a:solidFill>
                  <a:srgbClr val="000000"/>
                </a:solidFill>
              </a:rPr>
              <a:t>місяць-до-місяця з показником 4266575 унікальних користувачів у квітні 2022 року.</a:t>
            </a:r>
            <a:endParaRPr sz="4425">
              <a:solidFill>
                <a:srgbClr val="000000"/>
              </a:solidFill>
            </a:endParaRPr>
          </a:p>
          <a:p>
            <a:pPr indent="-228600" lvl="0" marL="17145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25">
              <a:solidFill>
                <a:srgbClr val="000000"/>
              </a:solidFill>
            </a:endParaRPr>
          </a:p>
          <a:p>
            <a:pPr indent="-228600" lvl="0" marL="17145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4425">
                <a:solidFill>
                  <a:srgbClr val="000000"/>
                </a:solidFill>
              </a:rPr>
              <a:t>5. Компанія </a:t>
            </a:r>
            <a:r>
              <a:rPr b="1" lang="en" sz="4425">
                <a:solidFill>
                  <a:srgbClr val="000000"/>
                </a:solidFill>
              </a:rPr>
              <a:t>Narrow</a:t>
            </a:r>
            <a:r>
              <a:rPr lang="en" sz="4425">
                <a:solidFill>
                  <a:srgbClr val="000000"/>
                </a:solidFill>
              </a:rPr>
              <a:t> є найдовшою і тривала 108 днів.</a:t>
            </a:r>
            <a:endParaRPr sz="4425">
              <a:solidFill>
                <a:srgbClr val="000000"/>
              </a:solidFill>
            </a:endParaRPr>
          </a:p>
          <a:p>
            <a:pPr indent="-45720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9" name="Google Shape;149;p16"/>
          <p:cNvPicPr preferRelativeResize="0"/>
          <p:nvPr/>
        </p:nvPicPr>
        <p:blipFill rotWithShape="1">
          <a:blip r:embed="rId3">
            <a:alphaModFix/>
          </a:blip>
          <a:srcRect b="22664" l="0" r="56760" t="55722"/>
          <a:stretch/>
        </p:blipFill>
        <p:spPr>
          <a:xfrm>
            <a:off x="5255825" y="2035700"/>
            <a:ext cx="3281175" cy="6526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0" name="Google Shape;150;p16"/>
          <p:cNvPicPr preferRelativeResize="0"/>
          <p:nvPr/>
        </p:nvPicPr>
        <p:blipFill rotWithShape="1">
          <a:blip r:embed="rId4">
            <a:alphaModFix/>
          </a:blip>
          <a:srcRect b="32304" l="0" r="54679" t="53180"/>
          <a:stretch/>
        </p:blipFill>
        <p:spPr>
          <a:xfrm>
            <a:off x="5255825" y="2766000"/>
            <a:ext cx="3281175" cy="4817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1" name="Google Shape;151;p16"/>
          <p:cNvPicPr preferRelativeResize="0"/>
          <p:nvPr/>
        </p:nvPicPr>
        <p:blipFill rotWithShape="1">
          <a:blip r:embed="rId5">
            <a:alphaModFix/>
          </a:blip>
          <a:srcRect b="32244" l="0" r="55011" t="56789"/>
          <a:stretch/>
        </p:blipFill>
        <p:spPr>
          <a:xfrm>
            <a:off x="5255825" y="3367800"/>
            <a:ext cx="3281175" cy="3666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2" name="Google Shape;152;p16"/>
          <p:cNvPicPr preferRelativeResize="0"/>
          <p:nvPr/>
        </p:nvPicPr>
        <p:blipFill rotWithShape="1">
          <a:blip r:embed="rId6">
            <a:alphaModFix/>
          </a:blip>
          <a:srcRect b="31038" l="0" r="59747" t="55756"/>
          <a:stretch/>
        </p:blipFill>
        <p:spPr>
          <a:xfrm>
            <a:off x="5255825" y="3962475"/>
            <a:ext cx="3281175" cy="441475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3" name="Google Shape;153;p16"/>
          <p:cNvPicPr preferRelativeResize="0"/>
          <p:nvPr/>
        </p:nvPicPr>
        <p:blipFill rotWithShape="1">
          <a:blip r:embed="rId7">
            <a:alphaModFix/>
          </a:blip>
          <a:srcRect b="4454" l="0" r="44794" t="50734"/>
          <a:stretch/>
        </p:blipFill>
        <p:spPr>
          <a:xfrm>
            <a:off x="5255812" y="862400"/>
            <a:ext cx="3281199" cy="10956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834900" y="394925"/>
            <a:ext cx="7915800" cy="3666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888"/>
              <a:t>Результати завдання 2-3</a:t>
            </a:r>
            <a:endParaRPr b="1" sz="1888"/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834900" y="1072600"/>
            <a:ext cx="3737100" cy="32628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17145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620">
              <a:solidFill>
                <a:srgbClr val="2F2F37"/>
              </a:solidFill>
            </a:endParaRPr>
          </a:p>
          <a:p>
            <a:pPr indent="0" lvl="0" marL="17145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5620">
                <a:solidFill>
                  <a:srgbClr val="2F2F37"/>
                </a:solidFill>
              </a:rPr>
              <a:t>2. Створила запит для отримання </a:t>
            </a:r>
            <a:r>
              <a:rPr b="1" lang="en" sz="5620">
                <a:solidFill>
                  <a:srgbClr val="2F2F37"/>
                </a:solidFill>
              </a:rPr>
              <a:t>таблиці</a:t>
            </a:r>
            <a:r>
              <a:rPr lang="en" sz="5620">
                <a:solidFill>
                  <a:srgbClr val="2F2F37"/>
                </a:solidFill>
              </a:rPr>
              <a:t> з інформацією про події, користувачів та сесії GA4, який можна використовувати для побудови звітів у BI системах.</a:t>
            </a:r>
            <a:endParaRPr sz="5620">
              <a:solidFill>
                <a:srgbClr val="2F2F37"/>
              </a:solidFill>
            </a:endParaRPr>
          </a:p>
          <a:p>
            <a:pPr indent="0" lvl="0" marL="17145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220">
              <a:solidFill>
                <a:srgbClr val="2F2F37"/>
              </a:solidFill>
            </a:endParaRPr>
          </a:p>
          <a:p>
            <a:pPr indent="0" lvl="0" marL="17145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220">
              <a:solidFill>
                <a:srgbClr val="2F2F37"/>
              </a:solidFill>
            </a:endParaRPr>
          </a:p>
          <a:p>
            <a:pPr indent="0" lvl="0" marL="17145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20">
              <a:solidFill>
                <a:srgbClr val="2F2F37"/>
              </a:solidFill>
            </a:endParaRPr>
          </a:p>
          <a:p>
            <a:pPr indent="0" lvl="0" marL="17145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20">
              <a:solidFill>
                <a:srgbClr val="2F2F37"/>
              </a:solidFill>
            </a:endParaRPr>
          </a:p>
          <a:p>
            <a:pPr indent="0" lvl="0" marL="17145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0">
                <a:solidFill>
                  <a:srgbClr val="222222"/>
                </a:solidFill>
                <a:highlight>
                  <a:srgbClr val="FFFFFF"/>
                </a:highlight>
              </a:rPr>
              <a:t>3. Розрахувала </a:t>
            </a:r>
            <a:r>
              <a:rPr b="1" lang="en" sz="5600">
                <a:solidFill>
                  <a:srgbClr val="222222"/>
                </a:solidFill>
                <a:highlight>
                  <a:srgbClr val="FFFFFF"/>
                </a:highlight>
              </a:rPr>
              <a:t>конверсії</a:t>
            </a:r>
            <a:r>
              <a:rPr lang="en" sz="5600">
                <a:solidFill>
                  <a:srgbClr val="222222"/>
                </a:solidFill>
                <a:highlight>
                  <a:srgbClr val="FFFFFF"/>
                </a:highlight>
              </a:rPr>
              <a:t> в розрізі дат та каналів, що дозволить побудувати воронку конверсій та зрозуміти наскільки ефективно працював сайт. </a:t>
            </a:r>
            <a:endParaRPr sz="56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2F2F37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2F2F37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2F2F37"/>
              </a:solidFill>
            </a:endParaRPr>
          </a:p>
          <a:p>
            <a:pPr indent="-114300" lvl="0" marL="17145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000000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000000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000000"/>
              </a:solidFill>
            </a:endParaRPr>
          </a:p>
          <a:p>
            <a:pPr indent="-228600" lvl="0" marL="17145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000000"/>
              </a:solidFill>
            </a:endParaRPr>
          </a:p>
          <a:p>
            <a:pPr indent="-228600" lvl="0" marL="17145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000000"/>
              </a:solidFill>
            </a:endParaRPr>
          </a:p>
          <a:p>
            <a:pPr indent="-228600" lvl="0" marL="17145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000000"/>
              </a:solidFill>
            </a:endParaRPr>
          </a:p>
          <a:p>
            <a:pPr indent="-45720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17"/>
          <p:cNvPicPr preferRelativeResize="0"/>
          <p:nvPr/>
        </p:nvPicPr>
        <p:blipFill rotWithShape="1">
          <a:blip r:embed="rId3">
            <a:alphaModFix/>
          </a:blip>
          <a:srcRect b="0" l="18513" r="0" t="35270"/>
          <a:stretch/>
        </p:blipFill>
        <p:spPr>
          <a:xfrm>
            <a:off x="4725825" y="1072600"/>
            <a:ext cx="4024850" cy="15841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1" name="Google Shape;161;p17"/>
          <p:cNvPicPr preferRelativeResize="0"/>
          <p:nvPr/>
        </p:nvPicPr>
        <p:blipFill rotWithShape="1">
          <a:blip r:embed="rId4">
            <a:alphaModFix/>
          </a:blip>
          <a:srcRect b="0" l="14500" r="0" t="37362"/>
          <a:stretch/>
        </p:blipFill>
        <p:spPr>
          <a:xfrm>
            <a:off x="4725825" y="2712000"/>
            <a:ext cx="4024850" cy="1623275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 txBox="1"/>
          <p:nvPr>
            <p:ph type="title"/>
          </p:nvPr>
        </p:nvSpPr>
        <p:spPr>
          <a:xfrm>
            <a:off x="834900" y="498725"/>
            <a:ext cx="7836000" cy="3666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888"/>
              <a:t>Результати завдання 4-5</a:t>
            </a:r>
            <a:endParaRPr b="1" sz="1888"/>
          </a:p>
        </p:txBody>
      </p:sp>
      <p:sp>
        <p:nvSpPr>
          <p:cNvPr id="167" name="Google Shape;167;p18"/>
          <p:cNvSpPr txBox="1"/>
          <p:nvPr>
            <p:ph idx="1" type="body"/>
          </p:nvPr>
        </p:nvSpPr>
        <p:spPr>
          <a:xfrm>
            <a:off x="834900" y="1067000"/>
            <a:ext cx="3560700" cy="31806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17145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rgbClr val="2F2F37"/>
                </a:solidFill>
              </a:rPr>
              <a:t>4</a:t>
            </a:r>
            <a:r>
              <a:rPr lang="en" sz="5200">
                <a:solidFill>
                  <a:srgbClr val="2F2F37"/>
                </a:solidFill>
              </a:rPr>
              <a:t>. </a:t>
            </a:r>
            <a:r>
              <a:rPr lang="en" sz="5200">
                <a:solidFill>
                  <a:srgbClr val="2F2F37"/>
                </a:solidFill>
              </a:rPr>
              <a:t>Розрахувала </a:t>
            </a:r>
            <a:r>
              <a:rPr b="1" lang="en" sz="5200">
                <a:solidFill>
                  <a:srgbClr val="2F2F37"/>
                </a:solidFill>
              </a:rPr>
              <a:t>конверсії</a:t>
            </a:r>
            <a:r>
              <a:rPr lang="en" sz="5200">
                <a:solidFill>
                  <a:srgbClr val="2F2F37"/>
                </a:solidFill>
              </a:rPr>
              <a:t> для різних посадкових сторінок. </a:t>
            </a:r>
            <a:endParaRPr sz="5200">
              <a:solidFill>
                <a:srgbClr val="2F2F37"/>
              </a:solidFill>
            </a:endParaRPr>
          </a:p>
          <a:p>
            <a:pPr indent="0" lvl="0" marL="17145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rgbClr val="2F2F37"/>
                </a:solidFill>
              </a:rPr>
              <a:t>Конверсія</a:t>
            </a:r>
            <a:r>
              <a:rPr lang="en" sz="5200">
                <a:solidFill>
                  <a:srgbClr val="2F2F37"/>
                </a:solidFill>
              </a:rPr>
              <a:t> від початку сесії до покупки на </a:t>
            </a:r>
            <a:r>
              <a:rPr b="1" lang="en" sz="5200">
                <a:solidFill>
                  <a:srgbClr val="2F2F37"/>
                </a:solidFill>
              </a:rPr>
              <a:t>двох</a:t>
            </a:r>
            <a:r>
              <a:rPr lang="en" sz="5200">
                <a:solidFill>
                  <a:srgbClr val="2F2F37"/>
                </a:solidFill>
              </a:rPr>
              <a:t> самих активних сторінках становить 0,5% та 0,3% відповідно.</a:t>
            </a:r>
            <a:endParaRPr sz="5200">
              <a:solidFill>
                <a:srgbClr val="2F2F37"/>
              </a:solidFill>
            </a:endParaRPr>
          </a:p>
          <a:p>
            <a:pPr indent="0" lvl="0" marL="17145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200">
              <a:solidFill>
                <a:srgbClr val="2F2F37"/>
              </a:solidFill>
            </a:endParaRPr>
          </a:p>
          <a:p>
            <a:pPr indent="0" lvl="0" marL="17145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200">
              <a:solidFill>
                <a:srgbClr val="2F2F37"/>
              </a:solidFill>
            </a:endParaRPr>
          </a:p>
          <a:p>
            <a:pPr indent="0" lvl="0" marL="17145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rgbClr val="222222"/>
                </a:solidFill>
                <a:highlight>
                  <a:srgbClr val="FFFFFF"/>
                </a:highlight>
              </a:rPr>
              <a:t>5</a:t>
            </a:r>
            <a:r>
              <a:rPr lang="en" sz="5200">
                <a:solidFill>
                  <a:srgbClr val="222222"/>
                </a:solidFill>
                <a:highlight>
                  <a:srgbClr val="FFFFFF"/>
                </a:highlight>
              </a:rPr>
              <a:t>. </a:t>
            </a:r>
            <a:r>
              <a:rPr lang="en" sz="5200">
                <a:solidFill>
                  <a:srgbClr val="2F2F37"/>
                </a:solidFill>
              </a:rPr>
              <a:t>Оцінила </a:t>
            </a:r>
            <a:r>
              <a:rPr b="1" lang="en" sz="5200">
                <a:solidFill>
                  <a:srgbClr val="2F2F37"/>
                </a:solidFill>
              </a:rPr>
              <a:t>кореляцію</a:t>
            </a:r>
            <a:r>
              <a:rPr lang="en" sz="5200">
                <a:solidFill>
                  <a:srgbClr val="2F2F37"/>
                </a:solidFill>
              </a:rPr>
              <a:t> між залученістю та покупкою, вона становила 0,007 - що свідчить про відсутність зв'язку між цими подіями. </a:t>
            </a:r>
            <a:r>
              <a:rPr b="1" lang="en" sz="5200">
                <a:solidFill>
                  <a:srgbClr val="2F2F37"/>
                </a:solidFill>
              </a:rPr>
              <a:t>Кореляція</a:t>
            </a:r>
            <a:r>
              <a:rPr lang="en" sz="5200">
                <a:solidFill>
                  <a:srgbClr val="2F2F37"/>
                </a:solidFill>
              </a:rPr>
              <a:t> між часом залучення та покупкою становила 0,21 - що свідчить про дуже незначний зв'язок між подіями.</a:t>
            </a:r>
            <a:endParaRPr sz="5200">
              <a:solidFill>
                <a:srgbClr val="2F2F37"/>
              </a:solidFill>
            </a:endParaRPr>
          </a:p>
          <a:p>
            <a:pPr indent="0" lvl="0" marL="17145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2F2F37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2F2F37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2F2F37"/>
              </a:solidFill>
            </a:endParaRPr>
          </a:p>
          <a:p>
            <a:pPr indent="-114300" lvl="0" marL="17145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000000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000000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000000"/>
              </a:solidFill>
            </a:endParaRPr>
          </a:p>
          <a:p>
            <a:pPr indent="-228600" lvl="0" marL="17145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000000"/>
              </a:solidFill>
            </a:endParaRPr>
          </a:p>
          <a:p>
            <a:pPr indent="-228600" lvl="0" marL="17145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000000"/>
              </a:solidFill>
            </a:endParaRPr>
          </a:p>
          <a:p>
            <a:pPr indent="-228600" lvl="0" marL="17145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000000"/>
              </a:solidFill>
            </a:endParaRPr>
          </a:p>
          <a:p>
            <a:pPr indent="-45720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18988" r="0" t="35450"/>
          <a:stretch/>
        </p:blipFill>
        <p:spPr>
          <a:xfrm>
            <a:off x="4735375" y="1067000"/>
            <a:ext cx="3935499" cy="2123475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4">
            <a:alphaModFix/>
          </a:blip>
          <a:srcRect b="127143" l="-109193" r="64412" t="-306394"/>
          <a:stretch/>
        </p:blipFill>
        <p:spPr>
          <a:xfrm>
            <a:off x="304800" y="304800"/>
            <a:ext cx="5943600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4">
            <a:alphaModFix/>
          </a:blip>
          <a:srcRect b="0" l="19100" r="0" t="73512"/>
          <a:stretch/>
        </p:blipFill>
        <p:spPr>
          <a:xfrm>
            <a:off x="4735375" y="3341250"/>
            <a:ext cx="3935499" cy="906225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"/>
          <p:cNvSpPr txBox="1"/>
          <p:nvPr>
            <p:ph type="title"/>
          </p:nvPr>
        </p:nvSpPr>
        <p:spPr>
          <a:xfrm>
            <a:off x="819150" y="392600"/>
            <a:ext cx="7505700" cy="4386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Висновки:</a:t>
            </a:r>
            <a:endParaRPr b="1"/>
          </a:p>
        </p:txBody>
      </p:sp>
      <p:sp>
        <p:nvSpPr>
          <p:cNvPr id="176" name="Google Shape;176;p19"/>
          <p:cNvSpPr txBox="1"/>
          <p:nvPr>
            <p:ph idx="1" type="body"/>
          </p:nvPr>
        </p:nvSpPr>
        <p:spPr>
          <a:xfrm>
            <a:off x="819150" y="953750"/>
            <a:ext cx="7505700" cy="37938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139700" lvl="0" marL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AutoNum type="arabicPeriod"/>
            </a:pPr>
            <a:r>
              <a:rPr lang="en" sz="14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У SQL-запитах практикувала </a:t>
            </a:r>
            <a:r>
              <a:rPr b="1" lang="en" sz="14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сортування, фільтрацію, підзапити, віконні та агрегаційні функції</a:t>
            </a:r>
            <a:r>
              <a:rPr lang="en" sz="14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, працювала з </a:t>
            </a:r>
            <a:r>
              <a:rPr b="1" lang="en" sz="14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датами, </a:t>
            </a:r>
            <a:r>
              <a:rPr lang="en" sz="14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робила </a:t>
            </a:r>
            <a:r>
              <a:rPr b="1" lang="en" sz="14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перевірки, злиття</a:t>
            </a:r>
            <a:r>
              <a:rPr lang="en" sz="14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 параметрів та </a:t>
            </a:r>
            <a:r>
              <a:rPr b="1" lang="en" sz="14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об'єднання таблиць</a:t>
            </a:r>
            <a:r>
              <a:rPr lang="en" sz="14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 .</a:t>
            </a:r>
            <a:endParaRPr sz="14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139700" lvl="0" marL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AutoNum type="arabicPeriod"/>
            </a:pPr>
            <a:r>
              <a:rPr lang="en" sz="14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Навчилася знаходити </a:t>
            </a:r>
            <a:r>
              <a:rPr b="1" lang="en" sz="14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топ-перформерів</a:t>
            </a:r>
            <a:r>
              <a:rPr lang="en" sz="14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 у датасеті за вказаними критеріями. Аналізуючи прибуток, витрати, конверсію, відвідуваність можна оцінити ефективність та тривалість різних маркетингових кампаній. Це допоможе зробити висновки де бізнес досягає найкращих, а де найгірших результатів та прийняти рішення для оптимізації діяльності.  </a:t>
            </a:r>
            <a:endParaRPr sz="14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139700" lvl="0" marL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AutoNum type="arabicPeriod"/>
            </a:pPr>
            <a:r>
              <a:rPr lang="en" sz="14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Підготувала базові таблиці для подальшої  інтерактивної </a:t>
            </a:r>
            <a:r>
              <a:rPr b="1" lang="en" sz="14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візуалізації</a:t>
            </a:r>
            <a:r>
              <a:rPr lang="en" sz="14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 в BI-системах.</a:t>
            </a:r>
            <a:endParaRPr sz="14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114300" lvl="0" marL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4. Навчилася </a:t>
            </a:r>
            <a:r>
              <a:rPr b="1" lang="en" sz="14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вилучати</a:t>
            </a:r>
            <a:r>
              <a:rPr lang="en" sz="14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 характеристики та </a:t>
            </a:r>
            <a:r>
              <a:rPr b="1" lang="en" sz="14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дані</a:t>
            </a:r>
            <a:r>
              <a:rPr lang="en" sz="14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 з датасету Google Analytics,  </a:t>
            </a:r>
            <a:r>
              <a:rPr b="1" lang="en" sz="14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працювати</a:t>
            </a:r>
            <a:r>
              <a:rPr lang="en" sz="14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 з різними </a:t>
            </a:r>
            <a:r>
              <a:rPr b="1" lang="en" sz="14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івентами</a:t>
            </a:r>
            <a:r>
              <a:rPr lang="en" sz="14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, що дає змогу оцінити джерела відвідування сайту, зрозуміти шлях клієнта від старту до покупки, дослідити  фактори, що впливають на прийняття рішення. </a:t>
            </a:r>
            <a:endParaRPr sz="14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114300" lvl="0" marL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5. </a:t>
            </a:r>
            <a:r>
              <a:rPr b="1" lang="en" sz="14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Розраховувала метрики</a:t>
            </a:r>
            <a:r>
              <a:rPr lang="en" sz="14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 Google Analytics:  </a:t>
            </a:r>
            <a:r>
              <a:rPr b="1" lang="en" sz="14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конверсії, середній час на сайті, зв'язок між залученістю та покупкою</a:t>
            </a:r>
            <a:r>
              <a:rPr lang="en" sz="14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. Аналіз всіх цих метрик і характеристик дає змогу оптимізувати ефективність та функціональність сайту, виявити проблеми  та покращити взаємодію з користувачами.</a:t>
            </a:r>
            <a:endParaRPr sz="14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ДЯКУЮ ЗА УВАГУ!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